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y="10287000" cx="18288000"/>
  <p:notesSz cx="6858000" cy="9144000"/>
  <p:embeddedFontLst>
    <p:embeddedFont>
      <p:font typeface="Play"/>
      <p:regular r:id="rId16"/>
      <p:bold r:id="rId17"/>
    </p:embeddedFont>
    <p:embeddedFont>
      <p:font typeface="Poppins"/>
      <p:regular r:id="rId18"/>
      <p:bold r:id="rId19"/>
      <p:italic r:id="rId20"/>
      <p:boldItalic r:id="rId21"/>
    </p:embeddedFont>
    <p:embeddedFont>
      <p:font typeface="Book Antiqua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CCF4EBE-E3F0-4F2D-BD50-FE03336D1A3F}">
  <a:tblStyle styleId="{9CCF4EBE-E3F0-4F2D-BD50-FE03336D1A3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BookAntiqua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BookAntiqua-italic.fntdata"/><Relationship Id="rId23" Type="http://schemas.openxmlformats.org/officeDocument/2006/relationships/font" Target="fonts/BookAntiqu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5" Type="http://schemas.openxmlformats.org/officeDocument/2006/relationships/font" Target="fonts/BookAntiqua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4" name="Google Shape;16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5" name="Google Shape;20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168177fc13_0_7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g3168177fc13_0_7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1e1de3ab7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8" name="Google Shape;238;g31e1de3ab74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4" name="Google Shape;25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6" name="Google Shape;26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/>
          <p:nvPr>
            <p:ph type="ctrTitle"/>
          </p:nvPr>
        </p:nvSpPr>
        <p:spPr>
          <a:xfrm>
            <a:off x="2286000" y="1683545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9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2286000" y="5403057"/>
            <a:ext cx="13716000" cy="24836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600"/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000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700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9pPr>
          </a:lstStyle>
          <a:p/>
        </p:txBody>
      </p:sp>
      <p:sp>
        <p:nvSpPr>
          <p:cNvPr id="21" name="Google Shape;21;p2"/>
          <p:cNvSpPr txBox="1"/>
          <p:nvPr>
            <p:ph idx="10" type="dt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1" type="ftr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2" type="sldNum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idx="10" type="dt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1247775" y="2564608"/>
            <a:ext cx="15773400" cy="427910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9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1247775" y="6884195"/>
            <a:ext cx="157734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36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3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27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24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24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24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24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24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24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1257300" y="2738438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9258300" y="2738438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1259682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1259683" y="2521745"/>
            <a:ext cx="7736681" cy="12358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3600"/>
            </a:lvl1pPr>
            <a:lvl2pPr indent="-2286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3000"/>
            </a:lvl2pPr>
            <a:lvl3pPr indent="-2286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2700"/>
            </a:lvl3pPr>
            <a:lvl4pPr indent="-2286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2400"/>
            </a:lvl5pPr>
            <a:lvl6pPr indent="-2286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2400"/>
            </a:lvl6pPr>
            <a:lvl7pPr indent="-2286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2400"/>
            </a:lvl7pPr>
            <a:lvl8pPr indent="-2286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2400"/>
            </a:lvl8pPr>
            <a:lvl9pPr indent="-2286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2400"/>
            </a:lvl9pPr>
          </a:lstStyle>
          <a:p/>
        </p:txBody>
      </p:sp>
      <p:sp>
        <p:nvSpPr>
          <p:cNvPr id="50" name="Google Shape;50;p7"/>
          <p:cNvSpPr txBox="1"/>
          <p:nvPr>
            <p:ph idx="2" type="body"/>
          </p:nvPr>
        </p:nvSpPr>
        <p:spPr>
          <a:xfrm>
            <a:off x="1259683" y="3757613"/>
            <a:ext cx="7736681" cy="5526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3" type="body"/>
          </p:nvPr>
        </p:nvSpPr>
        <p:spPr>
          <a:xfrm>
            <a:off x="9258300" y="2521745"/>
            <a:ext cx="7774782" cy="12358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3600"/>
            </a:lvl1pPr>
            <a:lvl2pPr indent="-2286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3000"/>
            </a:lvl2pPr>
            <a:lvl3pPr indent="-2286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2700"/>
            </a:lvl3pPr>
            <a:lvl4pPr indent="-2286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2400"/>
            </a:lvl5pPr>
            <a:lvl6pPr indent="-2286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2400"/>
            </a:lvl6pPr>
            <a:lvl7pPr indent="-2286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2400"/>
            </a:lvl7pPr>
            <a:lvl8pPr indent="-2286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2400"/>
            </a:lvl8pPr>
            <a:lvl9pPr indent="-2286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2400"/>
            </a:lvl9pPr>
          </a:lstStyle>
          <a:p/>
        </p:txBody>
      </p:sp>
      <p:sp>
        <p:nvSpPr>
          <p:cNvPr id="52" name="Google Shape;52;p7"/>
          <p:cNvSpPr txBox="1"/>
          <p:nvPr>
            <p:ph idx="4" type="body"/>
          </p:nvPr>
        </p:nvSpPr>
        <p:spPr>
          <a:xfrm>
            <a:off x="9258300" y="3757613"/>
            <a:ext cx="7774782" cy="5526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0" type="dt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1259683" y="685800"/>
            <a:ext cx="5898356" cy="24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7774782" y="1481138"/>
            <a:ext cx="9258300" cy="731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4800"/>
            </a:lvl1pPr>
            <a:lvl2pPr indent="-4064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4200"/>
            </a:lvl2pPr>
            <a:lvl3pPr indent="-3810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600"/>
            </a:lvl3pPr>
            <a:lvl4pPr indent="-3556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4pPr>
            <a:lvl5pPr indent="-3556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5pPr>
            <a:lvl6pPr indent="-3556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6pPr>
            <a:lvl7pPr indent="-3556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7pPr>
            <a:lvl8pPr indent="-3556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8pPr>
            <a:lvl9pPr indent="-3556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1259683" y="3086100"/>
            <a:ext cx="5898356" cy="5717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1pPr>
            <a:lvl2pPr indent="-2286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100"/>
            </a:lvl2pPr>
            <a:lvl3pPr indent="-2286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4pPr>
            <a:lvl5pPr indent="-2286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5pPr>
            <a:lvl6pPr indent="-2286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6pPr>
            <a:lvl7pPr indent="-2286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7pPr>
            <a:lvl8pPr indent="-2286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8pPr>
            <a:lvl9pPr indent="-2286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9pPr>
          </a:lstStyle>
          <a:p/>
        </p:txBody>
      </p:sp>
      <p:sp>
        <p:nvSpPr>
          <p:cNvPr id="65" name="Google Shape;65;p9"/>
          <p:cNvSpPr txBox="1"/>
          <p:nvPr>
            <p:ph idx="10" type="dt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1" type="ftr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1259683" y="685800"/>
            <a:ext cx="5898356" cy="24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/>
          <p:nvPr>
            <p:ph idx="2" type="pic"/>
          </p:nvPr>
        </p:nvSpPr>
        <p:spPr>
          <a:xfrm>
            <a:off x="7774782" y="1481138"/>
            <a:ext cx="9258300" cy="7310438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1259683" y="3086100"/>
            <a:ext cx="5898356" cy="5717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1pPr>
            <a:lvl2pPr indent="-2286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100"/>
            </a:lvl2pPr>
            <a:lvl3pPr indent="-2286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4pPr>
            <a:lvl5pPr indent="-2286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5pPr>
            <a:lvl6pPr indent="-2286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6pPr>
            <a:lvl7pPr indent="-2286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7pPr>
            <a:lvl8pPr indent="-2286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8pPr>
            <a:lvl9pPr indent="-2286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9pPr>
          </a:lstStyle>
          <a:p/>
        </p:txBody>
      </p:sp>
      <p:sp>
        <p:nvSpPr>
          <p:cNvPr id="72" name="Google Shape;72;p10"/>
          <p:cNvSpPr txBox="1"/>
          <p:nvPr>
            <p:ph idx="10" type="dt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1" type="ftr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 rot="5400000">
            <a:off x="5880497" y="-1884759"/>
            <a:ext cx="6527007" cy="15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0" type="dt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1" type="ftr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2" type="sldNum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 rot="5400000">
            <a:off x="10700147" y="2934891"/>
            <a:ext cx="8717757" cy="394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" type="body"/>
          </p:nvPr>
        </p:nvSpPr>
        <p:spPr>
          <a:xfrm rot="5400000">
            <a:off x="2699147" y="-894159"/>
            <a:ext cx="8717757" cy="1160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0" type="dt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1" type="ftr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2" name="Google Shape;1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8" name="Google Shape;118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9" name="Google Shape;119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5" name="Google Shape;125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6" name="Google Shape;126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7" name="Google Shape;127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8" name="Google Shape;12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9" name="Google Shape;139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7" name="Google Shape;14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1.jp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close-up of a network&#10;&#10;Description automatically generated" id="15" name="Google Shape;15;p1"/>
          <p:cNvPicPr preferRelativeResize="0"/>
          <p:nvPr/>
        </p:nvPicPr>
        <p:blipFill rotWithShape="1">
          <a:blip r:embed="rId1">
            <a:alphaModFix/>
          </a:blip>
          <a:srcRect b="0" l="8222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"/>
          <p:cNvSpPr/>
          <p:nvPr/>
        </p:nvSpPr>
        <p:spPr>
          <a:xfrm>
            <a:off x="0" y="1"/>
            <a:ext cx="18288000" cy="10439399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>
              <a:alpha val="63529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3181" y="272723"/>
            <a:ext cx="2671763" cy="78581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" name="Google Shape;9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7.jpg"/><Relationship Id="rId5" Type="http://schemas.openxmlformats.org/officeDocument/2006/relationships/image" Target="../media/image4.jp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7.jpg"/><Relationship Id="rId5" Type="http://schemas.openxmlformats.org/officeDocument/2006/relationships/image" Target="../media/image9.jpg"/><Relationship Id="rId6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7.jp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7.jp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6.jp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/>
          <p:nvPr/>
        </p:nvSpPr>
        <p:spPr>
          <a:xfrm>
            <a:off x="567825" y="7011675"/>
            <a:ext cx="8980650" cy="2909250"/>
          </a:xfrm>
          <a:prstGeom prst="rect">
            <a:avLst/>
          </a:prstGeom>
          <a:solidFill>
            <a:srgbClr val="0C0C0C">
              <a:alpha val="76862"/>
            </a:srgbClr>
          </a:solidFill>
          <a:ln>
            <a:noFill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7" name="Google Shape;167;p25"/>
          <p:cNvSpPr/>
          <p:nvPr/>
        </p:nvSpPr>
        <p:spPr>
          <a:xfrm>
            <a:off x="567825" y="4939125"/>
            <a:ext cx="17058600" cy="1987650"/>
          </a:xfrm>
          <a:prstGeom prst="rect">
            <a:avLst/>
          </a:prstGeom>
          <a:solidFill>
            <a:srgbClr val="0C0C0C">
              <a:alpha val="76862"/>
            </a:srgbClr>
          </a:solidFill>
          <a:ln>
            <a:noFill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8" name="Google Shape;168;p25"/>
          <p:cNvSpPr/>
          <p:nvPr/>
        </p:nvSpPr>
        <p:spPr>
          <a:xfrm>
            <a:off x="567807" y="4034550"/>
            <a:ext cx="5781600" cy="758250"/>
          </a:xfrm>
          <a:prstGeom prst="rect">
            <a:avLst/>
          </a:prstGeom>
          <a:solidFill>
            <a:srgbClr val="0C0C0C">
              <a:alpha val="76862"/>
            </a:srgbClr>
          </a:solidFill>
          <a:ln>
            <a:noFill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9" name="Google Shape;169;p25"/>
          <p:cNvSpPr txBox="1"/>
          <p:nvPr/>
        </p:nvSpPr>
        <p:spPr>
          <a:xfrm>
            <a:off x="622476" y="5111548"/>
            <a:ext cx="168027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50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Case Study:</a:t>
            </a:r>
            <a:r>
              <a:rPr b="1" i="1" lang="en-US" sz="50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50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Customer Segmentation for UrbanCart Retail Chain</a:t>
            </a:r>
            <a:endParaRPr sz="505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0" name="Google Shape;170;p25"/>
          <p:cNvSpPr txBox="1"/>
          <p:nvPr/>
        </p:nvSpPr>
        <p:spPr>
          <a:xfrm>
            <a:off x="709200" y="7219576"/>
            <a:ext cx="8434800" cy="26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Project Learning Opportunities</a:t>
            </a:r>
            <a:endParaRPr b="1" i="0" sz="16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150">
              <a:solidFill>
                <a:srgbClr val="FFC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8775" lvl="0" marL="457200" rtl="0" algn="just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050"/>
              <a:buFont typeface="Georgia"/>
              <a:buChar char="●"/>
            </a:pPr>
            <a:r>
              <a:rPr b="1" i="1" lang="en-US" sz="2050">
                <a:solidFill>
                  <a:srgbClr val="FFC000"/>
                </a:solidFill>
                <a:latin typeface="Georgia"/>
                <a:ea typeface="Georgia"/>
                <a:cs typeface="Georgia"/>
                <a:sym typeface="Georgia"/>
              </a:rPr>
              <a:t>Business Problem Understanding</a:t>
            </a:r>
            <a:endParaRPr b="1" i="1" sz="2050">
              <a:solidFill>
                <a:srgbClr val="FFC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8775" lvl="0" marL="457200" rtl="0" algn="just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050"/>
              <a:buFont typeface="Georgia"/>
              <a:buChar char="●"/>
            </a:pPr>
            <a:r>
              <a:rPr b="1" i="1" lang="en-US" sz="2050">
                <a:solidFill>
                  <a:srgbClr val="FFC000"/>
                </a:solidFill>
                <a:latin typeface="Georgia"/>
                <a:ea typeface="Georgia"/>
                <a:cs typeface="Georgia"/>
                <a:sym typeface="Georgia"/>
              </a:rPr>
              <a:t>Data Preprocessing and Cleaning</a:t>
            </a:r>
            <a:endParaRPr b="1" i="1" sz="2050">
              <a:solidFill>
                <a:srgbClr val="FFC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8775" lvl="0" marL="457200" rtl="0" algn="just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050"/>
              <a:buFont typeface="Georgia"/>
              <a:buChar char="●"/>
            </a:pPr>
            <a:r>
              <a:rPr b="1" i="1" lang="en-US" sz="2050">
                <a:solidFill>
                  <a:srgbClr val="FFC000"/>
                </a:solidFill>
                <a:latin typeface="Georgia"/>
                <a:ea typeface="Georgia"/>
                <a:cs typeface="Georgia"/>
                <a:sym typeface="Georgia"/>
              </a:rPr>
              <a:t>Understanding Clustering</a:t>
            </a:r>
            <a:endParaRPr b="1" i="1" sz="2050">
              <a:solidFill>
                <a:srgbClr val="FFC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8775" lvl="0" marL="457200" rtl="0" algn="just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050"/>
              <a:buFont typeface="Georgia"/>
              <a:buChar char="●"/>
            </a:pPr>
            <a:r>
              <a:rPr b="1" i="1" lang="en-US" sz="2050">
                <a:solidFill>
                  <a:srgbClr val="FFC000"/>
                </a:solidFill>
                <a:latin typeface="Georgia"/>
                <a:ea typeface="Georgia"/>
                <a:cs typeface="Georgia"/>
                <a:sym typeface="Georgia"/>
              </a:rPr>
              <a:t>Model Development and Evaluation</a:t>
            </a:r>
            <a:endParaRPr b="1" i="1" sz="2050">
              <a:solidFill>
                <a:srgbClr val="FFC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8775" lvl="0" marL="457200" rtl="0" algn="just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050"/>
              <a:buFont typeface="Georgia"/>
              <a:buChar char="●"/>
            </a:pPr>
            <a:r>
              <a:rPr b="1" i="1" lang="en-US" sz="2050">
                <a:solidFill>
                  <a:srgbClr val="FFC000"/>
                </a:solidFill>
                <a:latin typeface="Georgia"/>
                <a:ea typeface="Georgia"/>
                <a:cs typeface="Georgia"/>
                <a:sym typeface="Georgia"/>
              </a:rPr>
              <a:t>Interpreting Model Results</a:t>
            </a:r>
            <a:endParaRPr b="1" i="1" sz="2050">
              <a:solidFill>
                <a:srgbClr val="FFC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58775" lvl="0" marL="457200" rtl="0" algn="just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050"/>
              <a:buFont typeface="Georgia"/>
              <a:buChar char="●"/>
            </a:pPr>
            <a:r>
              <a:rPr b="1" i="1" lang="en-US" sz="2050">
                <a:solidFill>
                  <a:srgbClr val="FFC000"/>
                </a:solidFill>
                <a:latin typeface="Georgia"/>
                <a:ea typeface="Georgia"/>
                <a:cs typeface="Georgia"/>
                <a:sym typeface="Georgia"/>
              </a:rPr>
              <a:t>Actionable Business Insights</a:t>
            </a:r>
            <a:endParaRPr b="1" i="1" sz="2050">
              <a:solidFill>
                <a:srgbClr val="FFC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1" name="Google Shape;171;p25"/>
          <p:cNvSpPr/>
          <p:nvPr/>
        </p:nvSpPr>
        <p:spPr>
          <a:xfrm>
            <a:off x="6441020" y="4034550"/>
            <a:ext cx="6272550" cy="758250"/>
          </a:xfrm>
          <a:prstGeom prst="rect">
            <a:avLst/>
          </a:prstGeom>
          <a:solidFill>
            <a:srgbClr val="0C0C0C">
              <a:alpha val="76862"/>
            </a:srgbClr>
          </a:solidFill>
          <a:ln>
            <a:noFill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2" name="Google Shape;172;p25"/>
          <p:cNvSpPr/>
          <p:nvPr/>
        </p:nvSpPr>
        <p:spPr>
          <a:xfrm>
            <a:off x="12832557" y="4029713"/>
            <a:ext cx="4793850" cy="758250"/>
          </a:xfrm>
          <a:prstGeom prst="rect">
            <a:avLst/>
          </a:prstGeom>
          <a:solidFill>
            <a:srgbClr val="0C0C0C">
              <a:alpha val="76862"/>
            </a:srgbClr>
          </a:solidFill>
          <a:ln>
            <a:noFill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815982" y="4201163"/>
            <a:ext cx="5285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Specialization: </a:t>
            </a:r>
            <a:r>
              <a:rPr i="1" lang="en-US" sz="1800">
                <a:solidFill>
                  <a:srgbClr val="FFC000"/>
                </a:solidFill>
                <a:latin typeface="Georgia"/>
                <a:ea typeface="Georgia"/>
                <a:cs typeface="Georgia"/>
                <a:sym typeface="Georgia"/>
              </a:rPr>
              <a:t>Unsupervised Learning </a:t>
            </a:r>
            <a:endParaRPr b="0" i="1" sz="1800" u="none" cap="none" strike="noStrike">
              <a:solidFill>
                <a:srgbClr val="FFC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6497363" y="4201163"/>
            <a:ext cx="6216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Business Focus: </a:t>
            </a:r>
            <a:r>
              <a:rPr b="1" i="0" lang="en-US" sz="1800" u="none" cap="none" strike="noStrike">
                <a:solidFill>
                  <a:srgbClr val="FFC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i="1" lang="en-US" sz="1800">
                <a:solidFill>
                  <a:srgbClr val="FFC000"/>
                </a:solidFill>
                <a:latin typeface="Georgia"/>
                <a:ea typeface="Georgia"/>
                <a:cs typeface="Georgia"/>
                <a:sym typeface="Georgia"/>
              </a:rPr>
              <a:t>Retail</a:t>
            </a:r>
            <a:endParaRPr b="0" i="1" sz="1800" u="none" cap="none" strike="noStrike">
              <a:solidFill>
                <a:srgbClr val="FFC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5" name="Google Shape;175;p25"/>
          <p:cNvSpPr txBox="1"/>
          <p:nvPr/>
        </p:nvSpPr>
        <p:spPr>
          <a:xfrm>
            <a:off x="13033926" y="4048763"/>
            <a:ext cx="4391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Tool:  </a:t>
            </a:r>
            <a:r>
              <a:rPr b="0" i="1" lang="en-US" sz="1800" u="none" cap="none" strike="noStrike">
                <a:solidFill>
                  <a:srgbClr val="FFC000"/>
                </a:solidFill>
                <a:latin typeface="Georgia"/>
                <a:ea typeface="Georgia"/>
                <a:cs typeface="Georgia"/>
                <a:sym typeface="Georgia"/>
              </a:rPr>
              <a:t>Pandas, Matplotlib, Seaborn, Sklearn</a:t>
            </a:r>
            <a:endParaRPr b="0" i="1" sz="1800" u="none" cap="none" strike="noStrike">
              <a:solidFill>
                <a:srgbClr val="FFC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6" name="Google Shape;176;p25"/>
          <p:cNvSpPr/>
          <p:nvPr/>
        </p:nvSpPr>
        <p:spPr>
          <a:xfrm>
            <a:off x="9685238" y="7011675"/>
            <a:ext cx="7886700" cy="2909400"/>
          </a:xfrm>
          <a:prstGeom prst="rect">
            <a:avLst/>
          </a:prstGeom>
          <a:solidFill>
            <a:srgbClr val="0C0C0C">
              <a:alpha val="76862"/>
            </a:srgbClr>
          </a:solidFill>
          <a:ln>
            <a:noFill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7" name="Google Shape;177;p25"/>
          <p:cNvSpPr txBox="1"/>
          <p:nvPr/>
        </p:nvSpPr>
        <p:spPr>
          <a:xfrm>
            <a:off x="9921038" y="7219576"/>
            <a:ext cx="657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Tools and Technology to be Used</a:t>
            </a:r>
            <a:endParaRPr b="0" i="1" sz="2250" u="none" cap="none" strike="noStrike">
              <a:solidFill>
                <a:srgbClr val="FFC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78" name="Google Shape;17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59300" y="8616213"/>
            <a:ext cx="1223045" cy="415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17077" y="8446575"/>
            <a:ext cx="1223050" cy="490597"/>
          </a:xfrm>
          <a:prstGeom prst="rect">
            <a:avLst/>
          </a:prstGeom>
          <a:solidFill>
            <a:srgbClr val="0C0C0C">
              <a:alpha val="76862"/>
            </a:srgbClr>
          </a:solidFill>
          <a:ln>
            <a:noFill/>
          </a:ln>
        </p:spPr>
      </p:pic>
      <p:pic>
        <p:nvPicPr>
          <p:cNvPr id="180" name="Google Shape;180;p25"/>
          <p:cNvPicPr preferRelativeResize="0"/>
          <p:nvPr/>
        </p:nvPicPr>
        <p:blipFill rotWithShape="1">
          <a:blip r:embed="rId5">
            <a:alphaModFix/>
          </a:blip>
          <a:srcRect b="23995" l="0" r="0" t="27781"/>
          <a:stretch/>
        </p:blipFill>
        <p:spPr>
          <a:xfrm>
            <a:off x="11459300" y="7902379"/>
            <a:ext cx="1815605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87076" y="8279400"/>
            <a:ext cx="1040701" cy="1089133"/>
          </a:xfrm>
          <a:prstGeom prst="rect">
            <a:avLst/>
          </a:prstGeom>
          <a:solidFill>
            <a:srgbClr val="0C0C0C">
              <a:alpha val="76862"/>
            </a:srgbClr>
          </a:solidFill>
          <a:ln>
            <a:noFill/>
          </a:ln>
        </p:spPr>
      </p:pic>
      <p:pic>
        <p:nvPicPr>
          <p:cNvPr id="182" name="Google Shape;182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407504" y="7778600"/>
            <a:ext cx="1815600" cy="18155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</p:pic>
      <p:sp>
        <p:nvSpPr>
          <p:cNvPr id="188" name="Google Shape;188;p26"/>
          <p:cNvSpPr/>
          <p:nvPr/>
        </p:nvSpPr>
        <p:spPr>
          <a:xfrm>
            <a:off x="2458" y="-1"/>
            <a:ext cx="11275200" cy="10287000"/>
          </a:xfrm>
          <a:prstGeom prst="rect">
            <a:avLst/>
          </a:prstGeom>
          <a:solidFill>
            <a:srgbClr val="0C0C0C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6782472" y="1059455"/>
            <a:ext cx="608933" cy="1094031"/>
          </a:xfrm>
          <a:custGeom>
            <a:rect b="b" l="l" r="r" t="t"/>
            <a:pathLst>
              <a:path extrusionOk="0" h="1905381" w="811911">
                <a:moveTo>
                  <a:pt x="476377" y="0"/>
                </a:moveTo>
                <a:lnTo>
                  <a:pt x="811911" y="0"/>
                </a:lnTo>
                <a:lnTo>
                  <a:pt x="335534" y="1905381"/>
                </a:lnTo>
                <a:lnTo>
                  <a:pt x="0" y="1905381"/>
                </a:lnTo>
                <a:lnTo>
                  <a:pt x="476377" y="0"/>
                </a:lnTo>
                <a:close/>
              </a:path>
            </a:pathLst>
          </a:custGeom>
          <a:solidFill>
            <a:srgbClr val="97480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DA6727"/>
              </a:solidFill>
              <a:highlight>
                <a:srgbClr val="DA6727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7215129" y="1059455"/>
            <a:ext cx="608933" cy="1094031"/>
          </a:xfrm>
          <a:custGeom>
            <a:rect b="b" l="l" r="r" t="t"/>
            <a:pathLst>
              <a:path extrusionOk="0" h="1905381" w="811911">
                <a:moveTo>
                  <a:pt x="476377" y="0"/>
                </a:moveTo>
                <a:lnTo>
                  <a:pt x="811911" y="0"/>
                </a:lnTo>
                <a:lnTo>
                  <a:pt x="335534" y="1905381"/>
                </a:lnTo>
                <a:lnTo>
                  <a:pt x="0" y="1905381"/>
                </a:lnTo>
                <a:lnTo>
                  <a:pt x="476377" y="0"/>
                </a:lnTo>
                <a:close/>
              </a:path>
            </a:pathLst>
          </a:custGeom>
          <a:solidFill>
            <a:srgbClr val="97480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DA6727"/>
              </a:solidFill>
              <a:highlight>
                <a:srgbClr val="DA6727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91" name="Google Shape;191;p26"/>
          <p:cNvPicPr preferRelativeResize="0"/>
          <p:nvPr/>
        </p:nvPicPr>
        <p:blipFill rotWithShape="1">
          <a:blip r:embed="rId5">
            <a:alphaModFix/>
          </a:blip>
          <a:srcRect b="0" l="27056" r="27061" t="0"/>
          <a:stretch/>
        </p:blipFill>
        <p:spPr>
          <a:xfrm>
            <a:off x="11277600" y="0"/>
            <a:ext cx="7097226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6"/>
          <p:cNvSpPr/>
          <p:nvPr/>
        </p:nvSpPr>
        <p:spPr>
          <a:xfrm>
            <a:off x="0" y="2705100"/>
            <a:ext cx="12504627" cy="7242340"/>
          </a:xfrm>
          <a:custGeom>
            <a:rect b="b" l="l" r="r" t="t"/>
            <a:pathLst>
              <a:path extrusionOk="0" h="7466330" w="16399511">
                <a:moveTo>
                  <a:pt x="0" y="0"/>
                </a:moveTo>
                <a:lnTo>
                  <a:pt x="16399511" y="0"/>
                </a:lnTo>
                <a:lnTo>
                  <a:pt x="16399511" y="7466330"/>
                </a:lnTo>
                <a:lnTo>
                  <a:pt x="0" y="7466330"/>
                </a:lnTo>
                <a:close/>
              </a:path>
            </a:pathLst>
          </a:custGeom>
          <a:solidFill>
            <a:srgbClr val="97480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8787" y="181815"/>
            <a:ext cx="17811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6"/>
          <p:cNvSpPr/>
          <p:nvPr/>
        </p:nvSpPr>
        <p:spPr>
          <a:xfrm>
            <a:off x="248775" y="2846375"/>
            <a:ext cx="7228500" cy="5369100"/>
          </a:xfrm>
          <a:prstGeom prst="rect">
            <a:avLst/>
          </a:prstGeom>
          <a:solidFill>
            <a:srgbClr val="0C0C0C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14016" y="1028700"/>
            <a:ext cx="6996398" cy="1094033"/>
          </a:xfrm>
          <a:custGeom>
            <a:rect b="b" l="l" r="r" t="t"/>
            <a:pathLst>
              <a:path extrusionOk="0" h="1905381" w="9328531">
                <a:moveTo>
                  <a:pt x="0" y="0"/>
                </a:moveTo>
                <a:lnTo>
                  <a:pt x="1744853" y="0"/>
                </a:lnTo>
                <a:lnTo>
                  <a:pt x="7583678" y="0"/>
                </a:lnTo>
                <a:lnTo>
                  <a:pt x="9328531" y="0"/>
                </a:lnTo>
                <a:lnTo>
                  <a:pt x="8852154" y="1905381"/>
                </a:lnTo>
                <a:lnTo>
                  <a:pt x="7107301" y="1905381"/>
                </a:lnTo>
                <a:lnTo>
                  <a:pt x="1744853" y="1905381"/>
                </a:lnTo>
                <a:lnTo>
                  <a:pt x="0" y="1905381"/>
                </a:lnTo>
                <a:close/>
              </a:path>
            </a:pathLst>
          </a:custGeom>
          <a:solidFill>
            <a:srgbClr val="97480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DA6727"/>
              </a:solidFill>
              <a:highlight>
                <a:srgbClr val="DA6727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6" name="Google Shape;196;p26"/>
          <p:cNvSpPr txBox="1"/>
          <p:nvPr/>
        </p:nvSpPr>
        <p:spPr>
          <a:xfrm>
            <a:off x="324674" y="1257300"/>
            <a:ext cx="6375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Background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6"/>
          <p:cNvSpPr txBox="1"/>
          <p:nvPr/>
        </p:nvSpPr>
        <p:spPr>
          <a:xfrm>
            <a:off x="324674" y="2982108"/>
            <a:ext cx="7228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 txBox="1"/>
          <p:nvPr/>
        </p:nvSpPr>
        <p:spPr>
          <a:xfrm>
            <a:off x="394000" y="2932550"/>
            <a:ext cx="6745200" cy="50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30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Char char="■"/>
            </a:pPr>
            <a:r>
              <a:rPr lang="en-US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UrbanCart Retail is a mid-sized retail chain operating across 50 locations in the United States. The company offers a wide variety of products, including groceries, clothing, and home essentials. While UrbanCart has a loyal customer base, it struggles to understand the diverse preferences and behaviors of its customers.</a:t>
            </a:r>
            <a:endParaRPr sz="2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2200"/>
              <a:buFont typeface="Georgia"/>
              <a:buChar char="■"/>
            </a:pPr>
            <a:r>
              <a:rPr lang="en-US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UrbanCart plans to use data-driven insights to personalize marketing campaigns, optimize inventory, and improve customer retention</a:t>
            </a:r>
            <a:r>
              <a:rPr lang="en-US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sz="2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7553175" y="2889475"/>
            <a:ext cx="4797600" cy="2112900"/>
          </a:xfrm>
          <a:prstGeom prst="rect">
            <a:avLst/>
          </a:prstGeom>
          <a:solidFill>
            <a:srgbClr val="0C0C0C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6"/>
          <p:cNvSpPr txBox="1"/>
          <p:nvPr/>
        </p:nvSpPr>
        <p:spPr>
          <a:xfrm>
            <a:off x="7698400" y="2975650"/>
            <a:ext cx="45342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30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2200"/>
              <a:buFont typeface="Georgia"/>
              <a:buChar char="■"/>
            </a:pPr>
            <a:r>
              <a:rPr b="1" lang="en-US" sz="2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Mission:</a:t>
            </a:r>
            <a:r>
              <a:rPr lang="en-US" sz="2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Mission: To deliver tailored shopping experiences by understanding and meeting the unique needs of every customer.</a:t>
            </a:r>
            <a:endParaRPr sz="22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7553175" y="5269825"/>
            <a:ext cx="4797600" cy="1574100"/>
          </a:xfrm>
          <a:prstGeom prst="rect">
            <a:avLst/>
          </a:prstGeom>
          <a:solidFill>
            <a:srgbClr val="0C0C0C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6"/>
          <p:cNvSpPr txBox="1"/>
          <p:nvPr/>
        </p:nvSpPr>
        <p:spPr>
          <a:xfrm>
            <a:off x="7698400" y="5356000"/>
            <a:ext cx="45342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30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2200"/>
              <a:buFont typeface="Georgia"/>
              <a:buChar char="■"/>
            </a:pPr>
            <a:r>
              <a:rPr b="1" lang="en-US" sz="2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Vision:</a:t>
            </a:r>
            <a:r>
              <a:rPr lang="en-US" sz="2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2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To be the leader in customer-centric retail through innovation and analytics.</a:t>
            </a:r>
            <a:endParaRPr sz="22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8787" y="181815"/>
            <a:ext cx="17811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7"/>
          <p:cNvPicPr preferRelativeResize="0"/>
          <p:nvPr/>
        </p:nvPicPr>
        <p:blipFill rotWithShape="1">
          <a:blip r:embed="rId5">
            <a:alphaModFix/>
          </a:blip>
          <a:srcRect b="0" l="20251" r="-12011" t="0"/>
          <a:stretch/>
        </p:blipFill>
        <p:spPr>
          <a:xfrm>
            <a:off x="0" y="2095500"/>
            <a:ext cx="11014799" cy="800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7"/>
          <p:cNvSpPr/>
          <p:nvPr/>
        </p:nvSpPr>
        <p:spPr>
          <a:xfrm>
            <a:off x="6934200" y="0"/>
            <a:ext cx="11391900" cy="10286999"/>
          </a:xfrm>
          <a:prstGeom prst="rect">
            <a:avLst/>
          </a:prstGeom>
          <a:solidFill>
            <a:srgbClr val="0C0C0C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7"/>
          <p:cNvSpPr/>
          <p:nvPr/>
        </p:nvSpPr>
        <p:spPr>
          <a:xfrm>
            <a:off x="7741275" y="2095500"/>
            <a:ext cx="10413689" cy="7018350"/>
          </a:xfrm>
          <a:custGeom>
            <a:rect b="b" l="l" r="r" t="t"/>
            <a:pathLst>
              <a:path extrusionOk="0" h="7466330" w="16399511">
                <a:moveTo>
                  <a:pt x="0" y="0"/>
                </a:moveTo>
                <a:lnTo>
                  <a:pt x="16399511" y="0"/>
                </a:lnTo>
                <a:lnTo>
                  <a:pt x="16399511" y="7466330"/>
                </a:lnTo>
                <a:lnTo>
                  <a:pt x="0" y="7466330"/>
                </a:lnTo>
                <a:close/>
              </a:path>
            </a:pathLst>
          </a:custGeom>
          <a:solidFill>
            <a:srgbClr val="97480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2" name="Google Shape;212;p27"/>
          <p:cNvGrpSpPr/>
          <p:nvPr/>
        </p:nvGrpSpPr>
        <p:grpSpPr>
          <a:xfrm flipH="1">
            <a:off x="10516054" y="705690"/>
            <a:ext cx="7810046" cy="1124786"/>
            <a:chOff x="10744200" y="907230"/>
            <a:chExt cx="7810046" cy="1124786"/>
          </a:xfrm>
        </p:grpSpPr>
        <p:sp>
          <p:nvSpPr>
            <p:cNvPr id="213" name="Google Shape;213;p27"/>
            <p:cNvSpPr/>
            <p:nvPr/>
          </p:nvSpPr>
          <p:spPr>
            <a:xfrm>
              <a:off x="10744200" y="907230"/>
              <a:ext cx="6996398" cy="1094033"/>
            </a:xfrm>
            <a:custGeom>
              <a:rect b="b" l="l" r="r" t="t"/>
              <a:pathLst>
                <a:path extrusionOk="0" h="1905381" w="9328531">
                  <a:moveTo>
                    <a:pt x="0" y="0"/>
                  </a:moveTo>
                  <a:lnTo>
                    <a:pt x="1744853" y="0"/>
                  </a:lnTo>
                  <a:lnTo>
                    <a:pt x="7583678" y="0"/>
                  </a:lnTo>
                  <a:lnTo>
                    <a:pt x="9328531" y="0"/>
                  </a:lnTo>
                  <a:lnTo>
                    <a:pt x="8852154" y="1905381"/>
                  </a:lnTo>
                  <a:lnTo>
                    <a:pt x="7107301" y="1905381"/>
                  </a:lnTo>
                  <a:lnTo>
                    <a:pt x="1744853" y="1905381"/>
                  </a:lnTo>
                  <a:lnTo>
                    <a:pt x="0" y="1905381"/>
                  </a:lnTo>
                  <a:close/>
                </a:path>
              </a:pathLst>
            </a:custGeom>
            <a:solidFill>
              <a:srgbClr val="97480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DA6727"/>
                </a:solidFill>
                <a:highlight>
                  <a:srgbClr val="DA6727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27"/>
            <p:cNvSpPr/>
            <p:nvPr/>
          </p:nvSpPr>
          <p:spPr>
            <a:xfrm>
              <a:off x="17512656" y="937985"/>
              <a:ext cx="608933" cy="1094031"/>
            </a:xfrm>
            <a:custGeom>
              <a:rect b="b" l="l" r="r" t="t"/>
              <a:pathLst>
                <a:path extrusionOk="0" h="1905381" w="811911">
                  <a:moveTo>
                    <a:pt x="476377" y="0"/>
                  </a:moveTo>
                  <a:lnTo>
                    <a:pt x="811911" y="0"/>
                  </a:lnTo>
                  <a:lnTo>
                    <a:pt x="335534" y="1905381"/>
                  </a:lnTo>
                  <a:lnTo>
                    <a:pt x="0" y="1905381"/>
                  </a:lnTo>
                  <a:lnTo>
                    <a:pt x="476377" y="0"/>
                  </a:lnTo>
                  <a:close/>
                </a:path>
              </a:pathLst>
            </a:custGeom>
            <a:solidFill>
              <a:srgbClr val="97480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DA6727"/>
                </a:solidFill>
                <a:highlight>
                  <a:srgbClr val="DA6727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27"/>
            <p:cNvSpPr/>
            <p:nvPr/>
          </p:nvSpPr>
          <p:spPr>
            <a:xfrm>
              <a:off x="17945313" y="937985"/>
              <a:ext cx="608933" cy="1094031"/>
            </a:xfrm>
            <a:custGeom>
              <a:rect b="b" l="l" r="r" t="t"/>
              <a:pathLst>
                <a:path extrusionOk="0" h="1905381" w="811911">
                  <a:moveTo>
                    <a:pt x="476377" y="0"/>
                  </a:moveTo>
                  <a:lnTo>
                    <a:pt x="811911" y="0"/>
                  </a:lnTo>
                  <a:lnTo>
                    <a:pt x="335534" y="1905381"/>
                  </a:lnTo>
                  <a:lnTo>
                    <a:pt x="0" y="1905381"/>
                  </a:lnTo>
                  <a:lnTo>
                    <a:pt x="476377" y="0"/>
                  </a:lnTo>
                  <a:close/>
                </a:path>
              </a:pathLst>
            </a:custGeom>
            <a:solidFill>
              <a:srgbClr val="97480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DA6727"/>
                </a:solidFill>
                <a:highlight>
                  <a:srgbClr val="DA6727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6" name="Google Shape;216;p27"/>
          <p:cNvSpPr txBox="1"/>
          <p:nvPr/>
        </p:nvSpPr>
        <p:spPr>
          <a:xfrm>
            <a:off x="11565909" y="1010667"/>
            <a:ext cx="637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Problem Statement</a:t>
            </a:r>
            <a:endParaRPr b="1" sz="36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7" name="Google Shape;217;p27"/>
          <p:cNvSpPr txBox="1"/>
          <p:nvPr/>
        </p:nvSpPr>
        <p:spPr>
          <a:xfrm>
            <a:off x="7467600" y="2095500"/>
            <a:ext cx="1040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i="0" sz="27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8" name="Google Shape;218;p27"/>
          <p:cNvSpPr/>
          <p:nvPr/>
        </p:nvSpPr>
        <p:spPr>
          <a:xfrm>
            <a:off x="8159625" y="2649600"/>
            <a:ext cx="9781200" cy="5859900"/>
          </a:xfrm>
          <a:prstGeom prst="rect">
            <a:avLst/>
          </a:prstGeom>
          <a:solidFill>
            <a:srgbClr val="0C0C0C">
              <a:alpha val="6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eorgia"/>
              <a:buChar char="■"/>
            </a:pPr>
            <a:r>
              <a:rPr lang="en-US" sz="2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UrbanCart collects customer transaction data but has limited knowledge of how to utilize this information to improve their business strategies.</a:t>
            </a:r>
            <a:endParaRPr sz="24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just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eorgia"/>
              <a:buChar char="■"/>
            </a:pPr>
            <a:r>
              <a:rPr lang="en-US" sz="2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They need a way to segment their customers into meaningful groups based on purchasing behavior and demographic details. </a:t>
            </a:r>
            <a:endParaRPr sz="24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just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2400"/>
              <a:buFont typeface="Georgia"/>
              <a:buChar char="■"/>
            </a:pPr>
            <a:r>
              <a:rPr lang="en-US" sz="2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The goal is to use clustering techniques to identify distinct customer segments.</a:t>
            </a:r>
            <a:endParaRPr sz="24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</p:pic>
      <p:pic>
        <p:nvPicPr>
          <p:cNvPr id="224" name="Google Shape;224;p28"/>
          <p:cNvPicPr preferRelativeResize="0"/>
          <p:nvPr/>
        </p:nvPicPr>
        <p:blipFill rotWithShape="1">
          <a:blip r:embed="rId5">
            <a:alphaModFix/>
          </a:blip>
          <a:srcRect b="57080" l="-930" r="929" t="21999"/>
          <a:stretch/>
        </p:blipFill>
        <p:spPr>
          <a:xfrm>
            <a:off x="-1275" y="-298576"/>
            <a:ext cx="18288000" cy="245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8"/>
          <p:cNvSpPr/>
          <p:nvPr/>
        </p:nvSpPr>
        <p:spPr>
          <a:xfrm>
            <a:off x="38100" y="-298575"/>
            <a:ext cx="18288000" cy="10287000"/>
          </a:xfrm>
          <a:prstGeom prst="rect">
            <a:avLst/>
          </a:prstGeom>
          <a:solidFill>
            <a:srgbClr val="0C0C0C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8"/>
          <p:cNvSpPr/>
          <p:nvPr/>
        </p:nvSpPr>
        <p:spPr>
          <a:xfrm>
            <a:off x="762000" y="2240000"/>
            <a:ext cx="11274664" cy="5991730"/>
          </a:xfrm>
          <a:custGeom>
            <a:rect b="b" l="l" r="r" t="t"/>
            <a:pathLst>
              <a:path extrusionOk="0" h="7466330" w="16399511">
                <a:moveTo>
                  <a:pt x="0" y="0"/>
                </a:moveTo>
                <a:lnTo>
                  <a:pt x="16399511" y="0"/>
                </a:lnTo>
                <a:lnTo>
                  <a:pt x="16399511" y="7466330"/>
                </a:lnTo>
                <a:lnTo>
                  <a:pt x="0" y="7466330"/>
                </a:lnTo>
                <a:close/>
              </a:path>
            </a:pathLst>
          </a:custGeom>
          <a:solidFill>
            <a:srgbClr val="97480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8787" y="181815"/>
            <a:ext cx="17811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8"/>
          <p:cNvSpPr txBox="1"/>
          <p:nvPr/>
        </p:nvSpPr>
        <p:spPr>
          <a:xfrm>
            <a:off x="324674" y="2982108"/>
            <a:ext cx="7228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8"/>
          <p:cNvSpPr/>
          <p:nvPr/>
        </p:nvSpPr>
        <p:spPr>
          <a:xfrm>
            <a:off x="952275" y="2446250"/>
            <a:ext cx="10843500" cy="5573400"/>
          </a:xfrm>
          <a:prstGeom prst="rect">
            <a:avLst/>
          </a:prstGeom>
          <a:solidFill>
            <a:srgbClr val="0C0C0C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0" name="Google Shape;230;p28"/>
          <p:cNvGrpSpPr/>
          <p:nvPr/>
        </p:nvGrpSpPr>
        <p:grpSpPr>
          <a:xfrm flipH="1">
            <a:off x="10516054" y="1010490"/>
            <a:ext cx="7810046" cy="1126349"/>
            <a:chOff x="10744200" y="907230"/>
            <a:chExt cx="7810046" cy="1126349"/>
          </a:xfrm>
        </p:grpSpPr>
        <p:sp>
          <p:nvSpPr>
            <p:cNvPr id="231" name="Google Shape;231;p28"/>
            <p:cNvSpPr/>
            <p:nvPr/>
          </p:nvSpPr>
          <p:spPr>
            <a:xfrm>
              <a:off x="10744200" y="907230"/>
              <a:ext cx="6996398" cy="1095594"/>
            </a:xfrm>
            <a:custGeom>
              <a:rect b="b" l="l" r="r" t="t"/>
              <a:pathLst>
                <a:path extrusionOk="0" h="1905381" w="9328531">
                  <a:moveTo>
                    <a:pt x="0" y="0"/>
                  </a:moveTo>
                  <a:lnTo>
                    <a:pt x="1744853" y="0"/>
                  </a:lnTo>
                  <a:lnTo>
                    <a:pt x="7583678" y="0"/>
                  </a:lnTo>
                  <a:lnTo>
                    <a:pt x="9328531" y="0"/>
                  </a:lnTo>
                  <a:lnTo>
                    <a:pt x="8852154" y="1905381"/>
                  </a:lnTo>
                  <a:lnTo>
                    <a:pt x="7107301" y="1905381"/>
                  </a:lnTo>
                  <a:lnTo>
                    <a:pt x="1744853" y="1905381"/>
                  </a:lnTo>
                  <a:lnTo>
                    <a:pt x="0" y="1905381"/>
                  </a:lnTo>
                  <a:close/>
                </a:path>
              </a:pathLst>
            </a:custGeom>
            <a:solidFill>
              <a:srgbClr val="97480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DA6727"/>
                </a:solidFill>
                <a:highlight>
                  <a:srgbClr val="DA6727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28"/>
            <p:cNvSpPr/>
            <p:nvPr/>
          </p:nvSpPr>
          <p:spPr>
            <a:xfrm>
              <a:off x="17512656" y="937985"/>
              <a:ext cx="608933" cy="1095594"/>
            </a:xfrm>
            <a:custGeom>
              <a:rect b="b" l="l" r="r" t="t"/>
              <a:pathLst>
                <a:path extrusionOk="0" h="1905381" w="811911">
                  <a:moveTo>
                    <a:pt x="476377" y="0"/>
                  </a:moveTo>
                  <a:lnTo>
                    <a:pt x="811911" y="0"/>
                  </a:lnTo>
                  <a:lnTo>
                    <a:pt x="335534" y="1905381"/>
                  </a:lnTo>
                  <a:lnTo>
                    <a:pt x="0" y="1905381"/>
                  </a:lnTo>
                  <a:lnTo>
                    <a:pt x="476377" y="0"/>
                  </a:lnTo>
                  <a:close/>
                </a:path>
              </a:pathLst>
            </a:custGeom>
            <a:solidFill>
              <a:srgbClr val="97480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DA6727"/>
                </a:solidFill>
                <a:highlight>
                  <a:srgbClr val="DA6727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28"/>
            <p:cNvSpPr/>
            <p:nvPr/>
          </p:nvSpPr>
          <p:spPr>
            <a:xfrm>
              <a:off x="17945313" y="937985"/>
              <a:ext cx="608933" cy="1095594"/>
            </a:xfrm>
            <a:custGeom>
              <a:rect b="b" l="l" r="r" t="t"/>
              <a:pathLst>
                <a:path extrusionOk="0" h="1905381" w="811911">
                  <a:moveTo>
                    <a:pt x="476377" y="0"/>
                  </a:moveTo>
                  <a:lnTo>
                    <a:pt x="811911" y="0"/>
                  </a:lnTo>
                  <a:lnTo>
                    <a:pt x="335534" y="1905381"/>
                  </a:lnTo>
                  <a:lnTo>
                    <a:pt x="0" y="1905381"/>
                  </a:lnTo>
                  <a:lnTo>
                    <a:pt x="476377" y="0"/>
                  </a:lnTo>
                  <a:close/>
                </a:path>
              </a:pathLst>
            </a:custGeom>
            <a:solidFill>
              <a:srgbClr val="97480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DA6727"/>
                </a:solidFill>
                <a:highlight>
                  <a:srgbClr val="DA6727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p28"/>
          <p:cNvSpPr txBox="1"/>
          <p:nvPr/>
        </p:nvSpPr>
        <p:spPr>
          <a:xfrm>
            <a:off x="11565909" y="1315467"/>
            <a:ext cx="637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Rationale</a:t>
            </a:r>
            <a:endParaRPr b="1" sz="36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5" name="Google Shape;235;p28"/>
          <p:cNvSpPr txBox="1"/>
          <p:nvPr/>
        </p:nvSpPr>
        <p:spPr>
          <a:xfrm>
            <a:off x="1097500" y="2613950"/>
            <a:ext cx="10468500" cy="50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Customer segmentation is a critical strategy for retail businesses to:</a:t>
            </a:r>
            <a:endParaRPr sz="24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9144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AutoNum type="arabicPeriod"/>
            </a:pPr>
            <a:r>
              <a:rPr b="1"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Enhance Marketing:</a:t>
            </a:r>
            <a:r>
              <a:rPr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Deliver personalized marketing campaigns to different customer groups.</a:t>
            </a:r>
            <a:endParaRPr sz="24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AutoNum type="arabicPeriod"/>
            </a:pPr>
            <a:r>
              <a:rPr b="1"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Inventory Management:</a:t>
            </a:r>
            <a:r>
              <a:rPr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Stock products based on the preferences of specific customer segments.</a:t>
            </a:r>
            <a:endParaRPr sz="24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AutoNum type="arabicPeriod"/>
            </a:pPr>
            <a:r>
              <a:rPr b="1"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Loyalty Programs:</a:t>
            </a:r>
            <a:r>
              <a:rPr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Develop tailored loyalty programs to improve retention.</a:t>
            </a:r>
            <a:endParaRPr sz="24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By leveraging clustering techniques, UrbanCart aims to understand its customers better and improve operational efficiency.</a:t>
            </a:r>
            <a:endParaRPr sz="24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8787" y="181815"/>
            <a:ext cx="17811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9"/>
          <p:cNvPicPr preferRelativeResize="0"/>
          <p:nvPr/>
        </p:nvPicPr>
        <p:blipFill rotWithShape="1">
          <a:blip r:embed="rId5">
            <a:alphaModFix/>
          </a:blip>
          <a:srcRect b="13045" l="16750" r="-16750" t="14316"/>
          <a:stretch/>
        </p:blipFill>
        <p:spPr>
          <a:xfrm>
            <a:off x="0" y="2095500"/>
            <a:ext cx="11014799" cy="800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9"/>
          <p:cNvSpPr/>
          <p:nvPr/>
        </p:nvSpPr>
        <p:spPr>
          <a:xfrm>
            <a:off x="6934200" y="0"/>
            <a:ext cx="11391900" cy="10287000"/>
          </a:xfrm>
          <a:prstGeom prst="rect">
            <a:avLst/>
          </a:prstGeom>
          <a:solidFill>
            <a:srgbClr val="0C0C0C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9"/>
          <p:cNvSpPr/>
          <p:nvPr/>
        </p:nvSpPr>
        <p:spPr>
          <a:xfrm>
            <a:off x="7239000" y="2095501"/>
            <a:ext cx="10905675" cy="8007639"/>
          </a:xfrm>
          <a:custGeom>
            <a:rect b="b" l="l" r="r" t="t"/>
            <a:pathLst>
              <a:path extrusionOk="0" h="7466330" w="16399511">
                <a:moveTo>
                  <a:pt x="0" y="0"/>
                </a:moveTo>
                <a:lnTo>
                  <a:pt x="16399511" y="0"/>
                </a:lnTo>
                <a:lnTo>
                  <a:pt x="16399511" y="7466330"/>
                </a:lnTo>
                <a:lnTo>
                  <a:pt x="0" y="7466330"/>
                </a:lnTo>
                <a:close/>
              </a:path>
            </a:pathLst>
          </a:custGeom>
          <a:solidFill>
            <a:srgbClr val="97480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5" name="Google Shape;245;p29"/>
          <p:cNvGrpSpPr/>
          <p:nvPr/>
        </p:nvGrpSpPr>
        <p:grpSpPr>
          <a:xfrm flipH="1">
            <a:off x="10516054" y="705690"/>
            <a:ext cx="7810046" cy="1126349"/>
            <a:chOff x="10744200" y="907230"/>
            <a:chExt cx="7810046" cy="1126349"/>
          </a:xfrm>
        </p:grpSpPr>
        <p:sp>
          <p:nvSpPr>
            <p:cNvPr id="246" name="Google Shape;246;p29"/>
            <p:cNvSpPr/>
            <p:nvPr/>
          </p:nvSpPr>
          <p:spPr>
            <a:xfrm>
              <a:off x="10744200" y="907230"/>
              <a:ext cx="6996398" cy="1095594"/>
            </a:xfrm>
            <a:custGeom>
              <a:rect b="b" l="l" r="r" t="t"/>
              <a:pathLst>
                <a:path extrusionOk="0" h="1905381" w="9328531">
                  <a:moveTo>
                    <a:pt x="0" y="0"/>
                  </a:moveTo>
                  <a:lnTo>
                    <a:pt x="1744853" y="0"/>
                  </a:lnTo>
                  <a:lnTo>
                    <a:pt x="7583678" y="0"/>
                  </a:lnTo>
                  <a:lnTo>
                    <a:pt x="9328531" y="0"/>
                  </a:lnTo>
                  <a:lnTo>
                    <a:pt x="8852154" y="1905381"/>
                  </a:lnTo>
                  <a:lnTo>
                    <a:pt x="7107301" y="1905381"/>
                  </a:lnTo>
                  <a:lnTo>
                    <a:pt x="1744853" y="1905381"/>
                  </a:lnTo>
                  <a:lnTo>
                    <a:pt x="0" y="1905381"/>
                  </a:lnTo>
                  <a:close/>
                </a:path>
              </a:pathLst>
            </a:custGeom>
            <a:solidFill>
              <a:srgbClr val="97480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DA6727"/>
                </a:solidFill>
                <a:highlight>
                  <a:srgbClr val="DA6727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29"/>
            <p:cNvSpPr/>
            <p:nvPr/>
          </p:nvSpPr>
          <p:spPr>
            <a:xfrm>
              <a:off x="17512656" y="937985"/>
              <a:ext cx="608933" cy="1095594"/>
            </a:xfrm>
            <a:custGeom>
              <a:rect b="b" l="l" r="r" t="t"/>
              <a:pathLst>
                <a:path extrusionOk="0" h="1905381" w="811911">
                  <a:moveTo>
                    <a:pt x="476377" y="0"/>
                  </a:moveTo>
                  <a:lnTo>
                    <a:pt x="811911" y="0"/>
                  </a:lnTo>
                  <a:lnTo>
                    <a:pt x="335534" y="1905381"/>
                  </a:lnTo>
                  <a:lnTo>
                    <a:pt x="0" y="1905381"/>
                  </a:lnTo>
                  <a:lnTo>
                    <a:pt x="476377" y="0"/>
                  </a:lnTo>
                  <a:close/>
                </a:path>
              </a:pathLst>
            </a:custGeom>
            <a:solidFill>
              <a:srgbClr val="97480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DA6727"/>
                </a:solidFill>
                <a:highlight>
                  <a:srgbClr val="DA6727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29"/>
            <p:cNvSpPr/>
            <p:nvPr/>
          </p:nvSpPr>
          <p:spPr>
            <a:xfrm>
              <a:off x="17945313" y="937985"/>
              <a:ext cx="608933" cy="1095594"/>
            </a:xfrm>
            <a:custGeom>
              <a:rect b="b" l="l" r="r" t="t"/>
              <a:pathLst>
                <a:path extrusionOk="0" h="1905381" w="811911">
                  <a:moveTo>
                    <a:pt x="476377" y="0"/>
                  </a:moveTo>
                  <a:lnTo>
                    <a:pt x="811911" y="0"/>
                  </a:lnTo>
                  <a:lnTo>
                    <a:pt x="335534" y="1905381"/>
                  </a:lnTo>
                  <a:lnTo>
                    <a:pt x="0" y="1905381"/>
                  </a:lnTo>
                  <a:lnTo>
                    <a:pt x="476377" y="0"/>
                  </a:lnTo>
                  <a:close/>
                </a:path>
              </a:pathLst>
            </a:custGeom>
            <a:solidFill>
              <a:srgbClr val="97480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DA6727"/>
                </a:solidFill>
                <a:highlight>
                  <a:srgbClr val="DA6727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9" name="Google Shape;249;p29"/>
          <p:cNvSpPr txBox="1"/>
          <p:nvPr/>
        </p:nvSpPr>
        <p:spPr>
          <a:xfrm>
            <a:off x="11565909" y="1010667"/>
            <a:ext cx="637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Tasks </a:t>
            </a:r>
            <a:endParaRPr b="1" sz="36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0" name="Google Shape;250;p29"/>
          <p:cNvSpPr txBox="1"/>
          <p:nvPr/>
        </p:nvSpPr>
        <p:spPr>
          <a:xfrm>
            <a:off x="7467600" y="2095500"/>
            <a:ext cx="1040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i="0" sz="27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1" name="Google Shape;251;p29"/>
          <p:cNvSpPr/>
          <p:nvPr/>
        </p:nvSpPr>
        <p:spPr>
          <a:xfrm>
            <a:off x="7467600" y="2314575"/>
            <a:ext cx="10473300" cy="7630200"/>
          </a:xfrm>
          <a:prstGeom prst="rect">
            <a:avLst/>
          </a:prstGeom>
          <a:solidFill>
            <a:srgbClr val="0C0C0C">
              <a:alpha val="6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eorgia"/>
              <a:buChar char="■"/>
            </a:pPr>
            <a:r>
              <a:rPr b="1" lang="en-US" sz="2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Data Understanding:</a:t>
            </a:r>
            <a:endParaRPr b="1" sz="24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eorgia"/>
              <a:buChar char="✓"/>
            </a:pPr>
            <a:r>
              <a:rPr lang="en-US" sz="2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Analyze customer transaction and demographic data.</a:t>
            </a:r>
            <a:endParaRPr sz="24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eorgia"/>
              <a:buChar char="✓"/>
            </a:pPr>
            <a:r>
              <a:rPr lang="en-US" sz="2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Identify relevant features for segmentation.</a:t>
            </a:r>
            <a:endParaRPr sz="24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eorgia"/>
              <a:buChar char="■"/>
            </a:pPr>
            <a:r>
              <a:rPr b="1" lang="en-US" sz="2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Data Preparation:</a:t>
            </a:r>
            <a:endParaRPr b="1" sz="24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eorgia"/>
              <a:buChar char="✓"/>
            </a:pPr>
            <a:r>
              <a:rPr lang="en-US" sz="2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Handle missing values and scale numerical features.</a:t>
            </a:r>
            <a:endParaRPr sz="24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eorgia"/>
              <a:buChar char="✓"/>
            </a:pPr>
            <a:r>
              <a:rPr lang="en-US" sz="2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Encode categorical features appropriately.</a:t>
            </a:r>
            <a:endParaRPr sz="24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eorgia"/>
              <a:buChar char="■"/>
            </a:pPr>
            <a:r>
              <a:rPr b="1" lang="en-US" sz="2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Model Development:</a:t>
            </a:r>
            <a:endParaRPr b="1" sz="24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eorgia"/>
              <a:buChar char="✓"/>
            </a:pPr>
            <a:r>
              <a:rPr lang="en-US" sz="2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Apply unsupervised learning techniques like K-Means to group customers.</a:t>
            </a:r>
            <a:endParaRPr sz="24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eorgia"/>
              <a:buChar char="✓"/>
            </a:pPr>
            <a:r>
              <a:rPr lang="en-US" sz="2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Determine the optimal number of clusters using methods like the Elbow Method or Silhouette Score.</a:t>
            </a:r>
            <a:endParaRPr sz="24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eorgia"/>
              <a:buChar char="■"/>
            </a:pPr>
            <a:r>
              <a:rPr b="1" lang="en-US" sz="2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Insights and Recommendations:</a:t>
            </a:r>
            <a:endParaRPr b="1" sz="24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eorgia"/>
              <a:buChar char="✓"/>
            </a:pPr>
            <a:r>
              <a:rPr lang="en-US" sz="2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Interpret the characteristics of each customer segment.</a:t>
            </a:r>
            <a:endParaRPr sz="24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eorgia"/>
              <a:buChar char="✓"/>
            </a:pPr>
            <a:r>
              <a:rPr lang="en-US" sz="2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Provide actionable recommendations for marketing, inventory, and loyalty programs.</a:t>
            </a:r>
            <a:endParaRPr sz="24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eorgia"/>
              <a:buChar char="■"/>
            </a:pPr>
            <a:r>
              <a:rPr b="1" lang="en-US" sz="2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Visualization:</a:t>
            </a:r>
            <a:endParaRPr b="1" sz="24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eorgia"/>
              <a:buChar char="✓"/>
            </a:pPr>
            <a:r>
              <a:rPr lang="en-US" sz="24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Create visualizations (e.g., cluster distributions) to present findings.</a:t>
            </a:r>
            <a:endParaRPr sz="24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</p:pic>
      <p:pic>
        <p:nvPicPr>
          <p:cNvPr id="257" name="Google Shape;25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8787" y="181815"/>
            <a:ext cx="17811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0"/>
          <p:cNvSpPr/>
          <p:nvPr/>
        </p:nvSpPr>
        <p:spPr>
          <a:xfrm>
            <a:off x="14016" y="1028700"/>
            <a:ext cx="6996398" cy="1094033"/>
          </a:xfrm>
          <a:custGeom>
            <a:rect b="b" l="l" r="r" t="t"/>
            <a:pathLst>
              <a:path extrusionOk="0" h="1905381" w="9328531">
                <a:moveTo>
                  <a:pt x="0" y="0"/>
                </a:moveTo>
                <a:lnTo>
                  <a:pt x="1744853" y="0"/>
                </a:lnTo>
                <a:lnTo>
                  <a:pt x="7583678" y="0"/>
                </a:lnTo>
                <a:lnTo>
                  <a:pt x="9328531" y="0"/>
                </a:lnTo>
                <a:lnTo>
                  <a:pt x="8852154" y="1905381"/>
                </a:lnTo>
                <a:lnTo>
                  <a:pt x="7107301" y="1905381"/>
                </a:lnTo>
                <a:lnTo>
                  <a:pt x="1744853" y="1905381"/>
                </a:lnTo>
                <a:lnTo>
                  <a:pt x="0" y="1905381"/>
                </a:lnTo>
                <a:close/>
              </a:path>
            </a:pathLst>
          </a:custGeom>
          <a:solidFill>
            <a:srgbClr val="97480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DA6727"/>
              </a:solidFill>
              <a:highlight>
                <a:srgbClr val="DA6727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9" name="Google Shape;259;p30"/>
          <p:cNvSpPr/>
          <p:nvPr/>
        </p:nvSpPr>
        <p:spPr>
          <a:xfrm>
            <a:off x="6782472" y="1059455"/>
            <a:ext cx="608933" cy="1094031"/>
          </a:xfrm>
          <a:custGeom>
            <a:rect b="b" l="l" r="r" t="t"/>
            <a:pathLst>
              <a:path extrusionOk="0" h="1905381" w="811911">
                <a:moveTo>
                  <a:pt x="476377" y="0"/>
                </a:moveTo>
                <a:lnTo>
                  <a:pt x="811911" y="0"/>
                </a:lnTo>
                <a:lnTo>
                  <a:pt x="335534" y="1905381"/>
                </a:lnTo>
                <a:lnTo>
                  <a:pt x="0" y="1905381"/>
                </a:lnTo>
                <a:lnTo>
                  <a:pt x="476377" y="0"/>
                </a:lnTo>
                <a:close/>
              </a:path>
            </a:pathLst>
          </a:custGeom>
          <a:solidFill>
            <a:srgbClr val="97480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DA6727"/>
              </a:solidFill>
              <a:highlight>
                <a:srgbClr val="DA6727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0" name="Google Shape;260;p30"/>
          <p:cNvSpPr/>
          <p:nvPr/>
        </p:nvSpPr>
        <p:spPr>
          <a:xfrm>
            <a:off x="7215129" y="1059455"/>
            <a:ext cx="608933" cy="1094031"/>
          </a:xfrm>
          <a:custGeom>
            <a:rect b="b" l="l" r="r" t="t"/>
            <a:pathLst>
              <a:path extrusionOk="0" h="1905381" w="811911">
                <a:moveTo>
                  <a:pt x="476377" y="0"/>
                </a:moveTo>
                <a:lnTo>
                  <a:pt x="811911" y="0"/>
                </a:lnTo>
                <a:lnTo>
                  <a:pt x="335534" y="1905381"/>
                </a:lnTo>
                <a:lnTo>
                  <a:pt x="0" y="1905381"/>
                </a:lnTo>
                <a:lnTo>
                  <a:pt x="476377" y="0"/>
                </a:lnTo>
                <a:close/>
              </a:path>
            </a:pathLst>
          </a:custGeom>
          <a:solidFill>
            <a:srgbClr val="97480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DA6727"/>
              </a:solidFill>
              <a:highlight>
                <a:srgbClr val="DA6727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1" name="Google Shape;261;p30"/>
          <p:cNvSpPr txBox="1"/>
          <p:nvPr/>
        </p:nvSpPr>
        <p:spPr>
          <a:xfrm>
            <a:off x="324674" y="1257300"/>
            <a:ext cx="6375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Data </a:t>
            </a:r>
            <a:r>
              <a:rPr b="1" lang="en-US" sz="2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Dictionary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0"/>
          <p:cNvSpPr/>
          <p:nvPr/>
        </p:nvSpPr>
        <p:spPr>
          <a:xfrm>
            <a:off x="672475" y="2363400"/>
            <a:ext cx="17175300" cy="7169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263" name="Google Shape;263;p30"/>
          <p:cNvGraphicFramePr/>
          <p:nvPr/>
        </p:nvGraphicFramePr>
        <p:xfrm>
          <a:off x="952500" y="278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{9CCF4EBE-E3F0-4F2D-BD50-FE03336D1A3F}</a:tableStyleId>
              </a:tblPr>
              <a:tblGrid>
                <a:gridCol w="5378325"/>
                <a:gridCol w="11004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Feature</a:t>
                      </a:r>
                      <a:endParaRPr b="1" sz="2400">
                        <a:solidFill>
                          <a:schemeClr val="lt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chemeClr val="lt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Description</a:t>
                      </a:r>
                      <a:endParaRPr b="1" sz="2400">
                        <a:solidFill>
                          <a:schemeClr val="lt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CustomerID</a:t>
                      </a:r>
                      <a:endParaRPr sz="2400">
                        <a:solidFill>
                          <a:schemeClr val="lt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Unique identifier for each customer.</a:t>
                      </a:r>
                      <a:endParaRPr sz="2400">
                        <a:solidFill>
                          <a:schemeClr val="lt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Age</a:t>
                      </a:r>
                      <a:endParaRPr sz="2400">
                        <a:solidFill>
                          <a:schemeClr val="lt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Age of the customer.</a:t>
                      </a:r>
                      <a:endParaRPr sz="2400">
                        <a:solidFill>
                          <a:schemeClr val="lt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Gender</a:t>
                      </a:r>
                      <a:endParaRPr sz="2400">
                        <a:solidFill>
                          <a:schemeClr val="lt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Gender of the customer (Male/Female).</a:t>
                      </a:r>
                      <a:endParaRPr sz="2400">
                        <a:solidFill>
                          <a:schemeClr val="lt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AnnualIncome</a:t>
                      </a:r>
                      <a:endParaRPr sz="2400">
                        <a:solidFill>
                          <a:schemeClr val="lt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Annual income of the customer in USD.</a:t>
                      </a:r>
                      <a:endParaRPr sz="2400">
                        <a:solidFill>
                          <a:schemeClr val="lt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SpendingScore</a:t>
                      </a:r>
                      <a:endParaRPr sz="2400">
                        <a:solidFill>
                          <a:schemeClr val="lt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Customer's spending behavior score (1–100, higher is better).</a:t>
                      </a:r>
                      <a:endParaRPr sz="2400">
                        <a:solidFill>
                          <a:schemeClr val="lt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PurchaseFrequency</a:t>
                      </a:r>
                      <a:endParaRPr sz="2400">
                        <a:solidFill>
                          <a:schemeClr val="lt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Average number of purchases made per month.</a:t>
                      </a:r>
                      <a:endParaRPr sz="2400">
                        <a:solidFill>
                          <a:schemeClr val="lt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AverageBasketSize</a:t>
                      </a:r>
                      <a:endParaRPr sz="2400">
                        <a:solidFill>
                          <a:schemeClr val="lt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Average transaction amount in USD.</a:t>
                      </a:r>
                      <a:endParaRPr sz="2400">
                        <a:solidFill>
                          <a:schemeClr val="lt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LoyaltyPoints</a:t>
                      </a:r>
                      <a:endParaRPr sz="2400">
                        <a:solidFill>
                          <a:schemeClr val="lt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Loyalty points accumulated by the customer.</a:t>
                      </a:r>
                      <a:endParaRPr sz="2400">
                        <a:solidFill>
                          <a:schemeClr val="lt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PreferredCategory</a:t>
                      </a:r>
                      <a:endParaRPr sz="2400">
                        <a:solidFill>
                          <a:schemeClr val="lt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lt1"/>
                          </a:solidFill>
                          <a:latin typeface="Book Antiqua"/>
                          <a:ea typeface="Book Antiqua"/>
                          <a:cs typeface="Book Antiqua"/>
                          <a:sym typeface="Book Antiqua"/>
                        </a:rPr>
                        <a:t>Most frequently purchased product category (e.g., Groceries, Clothing).</a:t>
                      </a:r>
                      <a:endParaRPr sz="2400">
                        <a:solidFill>
                          <a:schemeClr val="lt1"/>
                        </a:solidFill>
                        <a:latin typeface="Book Antiqua"/>
                        <a:ea typeface="Book Antiqua"/>
                        <a:cs typeface="Book Antiqua"/>
                        <a:sym typeface="Book Antiqu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</p:pic>
      <p:sp>
        <p:nvSpPr>
          <p:cNvPr id="269" name="Google Shape;269;p31"/>
          <p:cNvSpPr/>
          <p:nvPr/>
        </p:nvSpPr>
        <p:spPr>
          <a:xfrm>
            <a:off x="7824062" y="0"/>
            <a:ext cx="10463938" cy="10286999"/>
          </a:xfrm>
          <a:prstGeom prst="rect">
            <a:avLst/>
          </a:prstGeom>
          <a:solidFill>
            <a:srgbClr val="0C0C0C">
              <a:alpha val="60000"/>
            </a:srgbClr>
          </a:solidFill>
          <a:ln>
            <a:noFill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0" name="Google Shape;270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8787" y="181815"/>
            <a:ext cx="17811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1"/>
          <p:cNvSpPr/>
          <p:nvPr/>
        </p:nvSpPr>
        <p:spPr>
          <a:xfrm>
            <a:off x="14016" y="1028700"/>
            <a:ext cx="6996398" cy="1094033"/>
          </a:xfrm>
          <a:custGeom>
            <a:rect b="b" l="l" r="r" t="t"/>
            <a:pathLst>
              <a:path extrusionOk="0" h="1905381" w="9328531">
                <a:moveTo>
                  <a:pt x="0" y="0"/>
                </a:moveTo>
                <a:lnTo>
                  <a:pt x="1744853" y="0"/>
                </a:lnTo>
                <a:lnTo>
                  <a:pt x="7583678" y="0"/>
                </a:lnTo>
                <a:lnTo>
                  <a:pt x="9328531" y="0"/>
                </a:lnTo>
                <a:lnTo>
                  <a:pt x="8852154" y="1905381"/>
                </a:lnTo>
                <a:lnTo>
                  <a:pt x="7107301" y="1905381"/>
                </a:lnTo>
                <a:lnTo>
                  <a:pt x="1744853" y="1905381"/>
                </a:lnTo>
                <a:lnTo>
                  <a:pt x="0" y="1905381"/>
                </a:lnTo>
                <a:close/>
              </a:path>
            </a:pathLst>
          </a:custGeom>
          <a:solidFill>
            <a:srgbClr val="97480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DA6727"/>
              </a:solidFill>
              <a:highlight>
                <a:srgbClr val="DA6727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2" name="Google Shape;272;p31"/>
          <p:cNvSpPr/>
          <p:nvPr/>
        </p:nvSpPr>
        <p:spPr>
          <a:xfrm>
            <a:off x="6782472" y="1059455"/>
            <a:ext cx="608933" cy="1094031"/>
          </a:xfrm>
          <a:custGeom>
            <a:rect b="b" l="l" r="r" t="t"/>
            <a:pathLst>
              <a:path extrusionOk="0" h="1905381" w="811911">
                <a:moveTo>
                  <a:pt x="476377" y="0"/>
                </a:moveTo>
                <a:lnTo>
                  <a:pt x="811911" y="0"/>
                </a:lnTo>
                <a:lnTo>
                  <a:pt x="335534" y="1905381"/>
                </a:lnTo>
                <a:lnTo>
                  <a:pt x="0" y="1905381"/>
                </a:lnTo>
                <a:lnTo>
                  <a:pt x="476377" y="0"/>
                </a:lnTo>
                <a:close/>
              </a:path>
            </a:pathLst>
          </a:custGeom>
          <a:solidFill>
            <a:srgbClr val="97480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DA6727"/>
              </a:solidFill>
              <a:highlight>
                <a:srgbClr val="DA6727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3" name="Google Shape;273;p31"/>
          <p:cNvSpPr/>
          <p:nvPr/>
        </p:nvSpPr>
        <p:spPr>
          <a:xfrm>
            <a:off x="7215129" y="1059455"/>
            <a:ext cx="608933" cy="1094031"/>
          </a:xfrm>
          <a:custGeom>
            <a:rect b="b" l="l" r="r" t="t"/>
            <a:pathLst>
              <a:path extrusionOk="0" h="1905381" w="811911">
                <a:moveTo>
                  <a:pt x="476377" y="0"/>
                </a:moveTo>
                <a:lnTo>
                  <a:pt x="811911" y="0"/>
                </a:lnTo>
                <a:lnTo>
                  <a:pt x="335534" y="1905381"/>
                </a:lnTo>
                <a:lnTo>
                  <a:pt x="0" y="1905381"/>
                </a:lnTo>
                <a:lnTo>
                  <a:pt x="476377" y="0"/>
                </a:lnTo>
                <a:close/>
              </a:path>
            </a:pathLst>
          </a:custGeom>
          <a:solidFill>
            <a:srgbClr val="97480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DA6727"/>
              </a:solidFill>
              <a:highlight>
                <a:srgbClr val="DA6727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4" name="Google Shape;274;p31"/>
          <p:cNvSpPr txBox="1"/>
          <p:nvPr/>
        </p:nvSpPr>
        <p:spPr>
          <a:xfrm>
            <a:off x="324674" y="1257300"/>
            <a:ext cx="6375082" cy="508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2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Project Workflow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1"/>
          <p:cNvSpPr txBox="1"/>
          <p:nvPr/>
        </p:nvSpPr>
        <p:spPr>
          <a:xfrm>
            <a:off x="8310441" y="3848100"/>
            <a:ext cx="1959900" cy="4617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STEP </a:t>
            </a:r>
            <a:r>
              <a:rPr b="1"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6" name="Google Shape;276;p31"/>
          <p:cNvSpPr/>
          <p:nvPr/>
        </p:nvSpPr>
        <p:spPr>
          <a:xfrm>
            <a:off x="9208037" y="4539030"/>
            <a:ext cx="155400" cy="499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7" name="Google Shape;277;p31"/>
          <p:cNvSpPr txBox="1"/>
          <p:nvPr/>
        </p:nvSpPr>
        <p:spPr>
          <a:xfrm>
            <a:off x="8305803" y="5197090"/>
            <a:ext cx="1959900" cy="4617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STEP </a:t>
            </a:r>
            <a:r>
              <a:rPr b="1"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1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8" name="Google Shape;278;p31"/>
          <p:cNvSpPr/>
          <p:nvPr/>
        </p:nvSpPr>
        <p:spPr>
          <a:xfrm>
            <a:off x="9212700" y="5936651"/>
            <a:ext cx="155400" cy="833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9" name="Google Shape;279;p31"/>
          <p:cNvSpPr txBox="1"/>
          <p:nvPr/>
        </p:nvSpPr>
        <p:spPr>
          <a:xfrm>
            <a:off x="8305800" y="6944800"/>
            <a:ext cx="1959900" cy="4617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STEP </a:t>
            </a:r>
            <a:r>
              <a:rPr b="1"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1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0" name="Google Shape;280;p31"/>
          <p:cNvSpPr/>
          <p:nvPr/>
        </p:nvSpPr>
        <p:spPr>
          <a:xfrm>
            <a:off x="9212700" y="7631173"/>
            <a:ext cx="155400" cy="631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1" name="Google Shape;281;p31"/>
          <p:cNvSpPr txBox="1"/>
          <p:nvPr/>
        </p:nvSpPr>
        <p:spPr>
          <a:xfrm>
            <a:off x="8305800" y="8460655"/>
            <a:ext cx="1959900" cy="4617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STEP </a:t>
            </a:r>
            <a:r>
              <a:rPr b="1"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1" i="0" sz="24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2" name="Google Shape;282;p31"/>
          <p:cNvSpPr txBox="1"/>
          <p:nvPr/>
        </p:nvSpPr>
        <p:spPr>
          <a:xfrm>
            <a:off x="10896599" y="4836938"/>
            <a:ext cx="7066800" cy="1587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Model Development:</a:t>
            </a:r>
            <a:endParaRPr b="1"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●"/>
            </a:pPr>
            <a:r>
              <a:rPr i="1" lang="en-US" sz="1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BApply unsupervised learning techniques like K-Means to group customers.</a:t>
            </a:r>
            <a:endParaRPr i="1"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●"/>
            </a:pPr>
            <a:r>
              <a:rPr i="1" lang="en-US" sz="1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Determine the optimal number of clusters using methods like the Elbow Method or Silhouette Score.</a:t>
            </a:r>
            <a:endParaRPr i="1"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3" name="Google Shape;283;p31"/>
          <p:cNvSpPr txBox="1"/>
          <p:nvPr/>
        </p:nvSpPr>
        <p:spPr>
          <a:xfrm>
            <a:off x="10896600" y="3361176"/>
            <a:ext cx="7066800" cy="949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Exploratory Data Analysis (EDA):</a:t>
            </a:r>
            <a:endParaRPr i="1"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●"/>
            </a:pPr>
            <a:r>
              <a:rPr i="1" lang="en-US" sz="1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Perform univariate, bivariate, and multivariate analysis to uncover insights.</a:t>
            </a:r>
            <a:endParaRPr i="1"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4" name="Google Shape;284;p31"/>
          <p:cNvSpPr txBox="1"/>
          <p:nvPr/>
        </p:nvSpPr>
        <p:spPr>
          <a:xfrm>
            <a:off x="10896598" y="6627665"/>
            <a:ext cx="7066800" cy="1268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Insights and Recommendations:</a:t>
            </a:r>
            <a:endParaRPr b="1" i="0" sz="20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●"/>
            </a:pPr>
            <a:r>
              <a:rPr i="1" lang="en-US" sz="1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Interpret the characteristics of each customer segment.</a:t>
            </a:r>
            <a:endParaRPr i="1"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●"/>
            </a:pPr>
            <a:r>
              <a:rPr i="1" lang="en-US" sz="1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Provide actionable recommendations for marketing, inventory, and loyalty programs.</a:t>
            </a:r>
            <a:endParaRPr i="1"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5" name="Google Shape;285;p31"/>
          <p:cNvSpPr txBox="1"/>
          <p:nvPr/>
        </p:nvSpPr>
        <p:spPr>
          <a:xfrm>
            <a:off x="10869926" y="8328788"/>
            <a:ext cx="7066800" cy="949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Visualization:</a:t>
            </a:r>
            <a:endParaRPr b="1" i="0" sz="20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●"/>
            </a:pPr>
            <a:r>
              <a:rPr i="1" lang="en-US" sz="1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Create visualizations (e.g., cluster distributions) to present findings.</a:t>
            </a:r>
            <a:endParaRPr i="1"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6" name="Google Shape;286;p31"/>
          <p:cNvSpPr txBox="1"/>
          <p:nvPr/>
        </p:nvSpPr>
        <p:spPr>
          <a:xfrm>
            <a:off x="8305741" y="2345150"/>
            <a:ext cx="1959900" cy="4617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STEP 1</a:t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7" name="Google Shape;287;p31"/>
          <p:cNvSpPr/>
          <p:nvPr/>
        </p:nvSpPr>
        <p:spPr>
          <a:xfrm>
            <a:off x="9203337" y="3036080"/>
            <a:ext cx="155400" cy="499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8" name="Google Shape;288;p31"/>
          <p:cNvSpPr txBox="1"/>
          <p:nvPr/>
        </p:nvSpPr>
        <p:spPr>
          <a:xfrm>
            <a:off x="10891900" y="1858226"/>
            <a:ext cx="7066800" cy="1268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Data Preparation:</a:t>
            </a:r>
            <a:endParaRPr b="1" i="0" sz="20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●"/>
            </a:pPr>
            <a:r>
              <a:rPr i="1" lang="en-US" sz="1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Clean the dataset, handling issues like missing values, duplicates, and outliers.</a:t>
            </a:r>
            <a:endParaRPr i="1"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rgia"/>
              <a:buChar char="●"/>
            </a:pPr>
            <a:r>
              <a:rPr i="1" lang="en-US" sz="1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Encode categorical variables and scale numerical features.</a:t>
            </a:r>
            <a:endParaRPr i="1" sz="18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2"/>
          <p:cNvSpPr/>
          <p:nvPr/>
        </p:nvSpPr>
        <p:spPr>
          <a:xfrm>
            <a:off x="0" y="7887798"/>
            <a:ext cx="9705404" cy="2399157"/>
          </a:xfrm>
          <a:custGeom>
            <a:rect b="b" l="l" r="r" t="t"/>
            <a:pathLst>
              <a:path extrusionOk="0" h="3198876" w="12940538">
                <a:moveTo>
                  <a:pt x="0" y="0"/>
                </a:moveTo>
                <a:lnTo>
                  <a:pt x="12940538" y="0"/>
                </a:lnTo>
                <a:lnTo>
                  <a:pt x="12140819" y="3198876"/>
                </a:lnTo>
                <a:lnTo>
                  <a:pt x="0" y="3198876"/>
                </a:lnTo>
                <a:lnTo>
                  <a:pt x="0" y="0"/>
                </a:lnTo>
                <a:close/>
              </a:path>
            </a:pathLst>
          </a:custGeom>
          <a:solidFill>
            <a:srgbClr val="DA672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2"/>
          <p:cNvSpPr/>
          <p:nvPr/>
        </p:nvSpPr>
        <p:spPr>
          <a:xfrm>
            <a:off x="10052614" y="0"/>
            <a:ext cx="8235411" cy="10287000"/>
          </a:xfrm>
          <a:custGeom>
            <a:rect b="b" l="l" r="r" t="t"/>
            <a:pathLst>
              <a:path extrusionOk="0" h="13716000" w="10980547">
                <a:moveTo>
                  <a:pt x="3429000" y="0"/>
                </a:moveTo>
                <a:lnTo>
                  <a:pt x="10980547" y="0"/>
                </a:lnTo>
                <a:lnTo>
                  <a:pt x="10980547" y="13716000"/>
                </a:lnTo>
                <a:lnTo>
                  <a:pt x="0" y="1371600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44801" r="-5910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2"/>
          <p:cNvSpPr/>
          <p:nvPr/>
        </p:nvSpPr>
        <p:spPr>
          <a:xfrm>
            <a:off x="9735987" y="2811780"/>
            <a:ext cx="2531745" cy="7475220"/>
          </a:xfrm>
          <a:custGeom>
            <a:rect b="b" l="l" r="r" t="t"/>
            <a:pathLst>
              <a:path extrusionOk="0" h="9966960" w="3375660">
                <a:moveTo>
                  <a:pt x="2491740" y="0"/>
                </a:moveTo>
                <a:lnTo>
                  <a:pt x="3375660" y="0"/>
                </a:lnTo>
                <a:lnTo>
                  <a:pt x="883920" y="9966960"/>
                </a:lnTo>
                <a:lnTo>
                  <a:pt x="0" y="9966960"/>
                </a:lnTo>
                <a:lnTo>
                  <a:pt x="2491740" y="0"/>
                </a:lnTo>
                <a:close/>
              </a:path>
            </a:pathLst>
          </a:custGeom>
          <a:solidFill>
            <a:srgbClr val="DA672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2"/>
          <p:cNvSpPr/>
          <p:nvPr/>
        </p:nvSpPr>
        <p:spPr>
          <a:xfrm>
            <a:off x="12267732" y="0"/>
            <a:ext cx="5306758" cy="2811780"/>
          </a:xfrm>
          <a:custGeom>
            <a:rect b="b" l="l" r="r" t="t"/>
            <a:pathLst>
              <a:path extrusionOk="0" h="3749040" w="7075678">
                <a:moveTo>
                  <a:pt x="0" y="3749040"/>
                </a:moveTo>
                <a:lnTo>
                  <a:pt x="937260" y="0"/>
                </a:lnTo>
                <a:lnTo>
                  <a:pt x="7075678" y="0"/>
                </a:lnTo>
                <a:lnTo>
                  <a:pt x="6138418" y="3749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2"/>
          <p:cNvSpPr/>
          <p:nvPr/>
        </p:nvSpPr>
        <p:spPr>
          <a:xfrm>
            <a:off x="11022002" y="660918"/>
            <a:ext cx="5610796" cy="1489901"/>
          </a:xfrm>
          <a:custGeom>
            <a:rect b="b" l="l" r="r" t="t"/>
            <a:pathLst>
              <a:path extrusionOk="0" h="1986534" w="7481062">
                <a:moveTo>
                  <a:pt x="0" y="1986534"/>
                </a:moveTo>
                <a:lnTo>
                  <a:pt x="496697" y="0"/>
                </a:lnTo>
                <a:lnTo>
                  <a:pt x="7481062" y="0"/>
                </a:lnTo>
                <a:lnTo>
                  <a:pt x="6984492" y="1986534"/>
                </a:lnTo>
                <a:close/>
              </a:path>
            </a:pathLst>
          </a:custGeom>
          <a:solidFill>
            <a:srgbClr val="DA672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2"/>
          <p:cNvSpPr txBox="1"/>
          <p:nvPr/>
        </p:nvSpPr>
        <p:spPr>
          <a:xfrm>
            <a:off x="1028700" y="3109453"/>
            <a:ext cx="8236043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b="1" i="0" lang="en-US" sz="90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READY 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2"/>
          <p:cNvSpPr txBox="1"/>
          <p:nvPr/>
        </p:nvSpPr>
        <p:spPr>
          <a:xfrm>
            <a:off x="1028700" y="4481053"/>
            <a:ext cx="8236043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b="1" i="0" lang="en-US" sz="9000" u="none" cap="none" strike="noStrike">
                <a:solidFill>
                  <a:srgbClr val="DA6727"/>
                </a:solidFill>
                <a:latin typeface="Georgia"/>
                <a:ea typeface="Georgia"/>
                <a:cs typeface="Georgia"/>
                <a:sym typeface="Georgia"/>
              </a:rPr>
              <a:t>DELVE IN?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8787" y="181815"/>
            <a:ext cx="1781175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